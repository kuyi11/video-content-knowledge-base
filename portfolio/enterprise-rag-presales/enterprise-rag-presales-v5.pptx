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20e5f2ad674b01" /><Relationship Type="http://schemas.openxmlformats.org/officeDocument/2006/relationships/extended-properties" Target="/docProps/app.xml" Id="Rdd152d2e7a0641bb" /><Relationship Type="http://schemas.openxmlformats.org/officeDocument/2006/relationships/officeDocument" Target="/ppt/presentation.xml" Id="R34ca12bbd01340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e638d43c954921"/>
  </p:sldMasterIdLst>
  <p:notesMasterIdLst>
    <p:notesMasterId xmlns:r="http://schemas.openxmlformats.org/officeDocument/2006/relationships" r:id="Reda09b9c84c34438"/>
  </p:notesMasterIdLst>
  <p:sldIdLst>
    <p:sldId xmlns:r="http://schemas.openxmlformats.org/officeDocument/2006/relationships" id="256" r:id="R44c376be99f14f8e"/>
    <p:sldId xmlns:r="http://schemas.openxmlformats.org/officeDocument/2006/relationships" id="257" r:id="Re73d38b8027f4b1d"/>
    <p:sldId xmlns:r="http://schemas.openxmlformats.org/officeDocument/2006/relationships" id="258" r:id="R0918e9b1080449c9"/>
    <p:sldId xmlns:r="http://schemas.openxmlformats.org/officeDocument/2006/relationships" id="259" r:id="Re77d9de289b84aa7"/>
    <p:sldId xmlns:r="http://schemas.openxmlformats.org/officeDocument/2006/relationships" id="260" r:id="R2db0f2e455c644f5"/>
    <p:sldId xmlns:r="http://schemas.openxmlformats.org/officeDocument/2006/relationships" id="261" r:id="R9f9c3488a0544510"/>
    <p:sldId xmlns:r="http://schemas.openxmlformats.org/officeDocument/2006/relationships" id="262" r:id="R5ab473641ba64560"/>
    <p:sldId xmlns:r="http://schemas.openxmlformats.org/officeDocument/2006/relationships" id="263" r:id="Rad3ca488705a46d4"/>
    <p:sldId xmlns:r="http://schemas.openxmlformats.org/officeDocument/2006/relationships" id="264" r:id="R262f85cd8c57434d"/>
    <p:sldId xmlns:r="http://schemas.openxmlformats.org/officeDocument/2006/relationships" id="265" r:id="Rcb168748852145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072b2331964644" /><Relationship Type="http://schemas.openxmlformats.org/officeDocument/2006/relationships/slideMaster" Target="/ppt/slideMasters/slideMaster1.xml" Id="R61e638d43c954921" /><Relationship Type="http://schemas.openxmlformats.org/officeDocument/2006/relationships/notesMaster" Target="/ppt/notesMasters/notesMaster1.xml" Id="Reda09b9c84c34438" /><Relationship Type="http://schemas.openxmlformats.org/officeDocument/2006/relationships/presProps" Target="/ppt/presProps.xml" Id="R32c2276d38ed4c19" /><Relationship Type="http://schemas.openxmlformats.org/officeDocument/2006/relationships/tableStyles" Target="/ppt/tableStyles.xml" Id="Rda2394a7deac4c52" /><Relationship Type="http://schemas.openxmlformats.org/officeDocument/2006/relationships/slide" Target="/ppt/slides/slide1.xml" Id="R44c376be99f14f8e" /><Relationship Type="http://schemas.openxmlformats.org/officeDocument/2006/relationships/slide" Target="/ppt/slides/slide2.xml" Id="Re73d38b8027f4b1d" /><Relationship Type="http://schemas.openxmlformats.org/officeDocument/2006/relationships/slide" Target="/ppt/slides/slide3.xml" Id="R0918e9b1080449c9" /><Relationship Type="http://schemas.openxmlformats.org/officeDocument/2006/relationships/slide" Target="/ppt/slides/slide4.xml" Id="Re77d9de289b84aa7" /><Relationship Type="http://schemas.openxmlformats.org/officeDocument/2006/relationships/slide" Target="/ppt/slides/slide5.xml" Id="R2db0f2e455c644f5" /><Relationship Type="http://schemas.openxmlformats.org/officeDocument/2006/relationships/slide" Target="/ppt/slides/slide6.xml" Id="R9f9c3488a0544510" /><Relationship Type="http://schemas.openxmlformats.org/officeDocument/2006/relationships/slide" Target="/ppt/slides/slide7.xml" Id="R5ab473641ba64560" /><Relationship Type="http://schemas.openxmlformats.org/officeDocument/2006/relationships/slide" Target="/ppt/slides/slide8.xml" Id="Rad3ca488705a46d4" /><Relationship Type="http://schemas.openxmlformats.org/officeDocument/2006/relationships/slide" Target="/ppt/slides/slide9.xml" Id="R262f85cd8c57434d" /><Relationship Type="http://schemas.openxmlformats.org/officeDocument/2006/relationships/slide" Target="/ppt/slides/slide10.xml" Id="Rcb168748852145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042b45ec1345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0b51b2fef445c6" /><Relationship Type="http://schemas.openxmlformats.org/officeDocument/2006/relationships/notesMaster" Target="/ppt/notesMasters/notesMaster1.xml" Id="Rd38491f2a34547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54d75ddf584d2c" /><Relationship Type="http://schemas.openxmlformats.org/officeDocument/2006/relationships/notesMaster" Target="/ppt/notesMasters/notesMaster1.xml" Id="Rc2e18383b9a54b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b92379349d46cc" /><Relationship Type="http://schemas.openxmlformats.org/officeDocument/2006/relationships/notesMaster" Target="/ppt/notesMasters/notesMaster1.xml" Id="Rb6c80c728ede49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4d9cca9d3a4c9f" /><Relationship Type="http://schemas.openxmlformats.org/officeDocument/2006/relationships/notesMaster" Target="/ppt/notesMasters/notesMaster1.xml" Id="R34e435ca9e6847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9448dcd04f4a61" /><Relationship Type="http://schemas.openxmlformats.org/officeDocument/2006/relationships/notesMaster" Target="/ppt/notesMasters/notesMaster1.xml" Id="Rc9aa1267ea2b47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ff457ec508421c" /><Relationship Type="http://schemas.openxmlformats.org/officeDocument/2006/relationships/notesMaster" Target="/ppt/notesMasters/notesMaster1.xml" Id="R4b009e5c861d4d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a10dc24c2e4504" /><Relationship Type="http://schemas.openxmlformats.org/officeDocument/2006/relationships/notesMaster" Target="/ppt/notesMasters/notesMaster1.xml" Id="R569c713d95e742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0a641736cc4fb6" /><Relationship Type="http://schemas.openxmlformats.org/officeDocument/2006/relationships/notesMaster" Target="/ppt/notesMasters/notesMaster1.xml" Id="R7deafdca89d74e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4498705a7a4fb1" /><Relationship Type="http://schemas.openxmlformats.org/officeDocument/2006/relationships/notesMaster" Target="/ppt/notesMasters/notesMaster1.xml" Id="Re58945e7f28f47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cec236fcef4b14" /><Relationship Type="http://schemas.openxmlformats.org/officeDocument/2006/relationships/notesMaster" Target="/ppt/notesMasters/notesMaster1.xml" Id="R200dd64999414c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定位：面向 AI 售前 / FDE 面试的模拟企业知识库 RAG POC 方案说明。证据范围为 16 篇模拟文档、45 个 chunk、自建 22 条问题集和离线评测。数据不代表真实客户或生产环境。代码基线 22dc574，tag v0.1-enterprise-rag-poc。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场景来自企业模拟资料，覆盖产品 v1.1/v1.2、FAQ、工单、SLA、权限矩阵和部署检查表。效率收益属于待验证假设，不在当前 POC 中量化。来源：docs/ENTERPRISE_ARCHITECTURE.md。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需求澄清项整理自 docs/ENTERPRISE_COST_MODEL.md 与 docs/ENTERPRISE_ARCHITECTURE.md。当前 Demo 未接真实 SSO/ACL，因此权限验收必须在真实身份与文档权限规则明确后单独设计。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流程概念图，当前实现包括 API 鉴权、domain=enterprise 业务域过滤、向量与 BM25 检索、RRF、生成、Citation/Claim 校验和 Output Gate；资料不足时提示人工确认。真实用户 ACL/SSO 尚未接入。来源：docs/ENTERPRISE_ARCHITECTURE.md。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方案图按当前 Demo 架构绘制。当前 Compose 证明可复现运行，不代表高可用、监控、灾备或生产运维已完成。来源：docs/ENTERPRISE_ARCHITECTURE.md 与 docs/ENTERPRISE_KB_DEMO_RUNBOOK.md。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5/5 结果对应 docs/demo-evidence/enterprise-demo-latest.json 的 Docker 场景，不是 22 条离线完整评测。场景包括产品咨询、故障排查、版本说明、私有化部署和产品边界问题。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状态分层：本地已验证的实现包括 API Token 鉴权、限流、domain=enterprise 过滤、Citation/Claim/Output Gate、索引健康检查和 Docker 演示。客户环境待验证指本地能力对接具体网关、域映射和运行环境，不表示已接客户身份系统。真实 SSO、组织架构同步、用户 ACL/行级权限尚未实现。版本元数据及增量索引、回滚、生产监控、告警也未实现。权限矩阵只是模拟测试资料。来源：docs/ENTERPRISE_ARCHITECTURE.md、docs/ENTERPRISE_KB_DEMO_RUNBOOK.md。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基于模拟企业资料的离线评测，评测日期 2026-10-08，代码基线 22dc574（tag v0.1-enterprise-rag-poc）。22 条完整问题集包含 18 条可回答问题与 4 条无依据/越权问题：Recall@5 1.0000，MRR 0.7935，Source coverage 0.8519，Claim citation grounding 0.8947，Claim semantic grounding 0.7895，边界表达命中率 4/4（短语规则），Answer point coverage 0.4843，Claim review 8 条。5 条 core_demo 子集：Recall@5 1.0000，MRR 0.8750，Source coverage 0.8750，Claim citation grounding 0.6667，Claim semantic grounding 0.6667，边界表达命中率 1/1（短语规则），Answer point coverage 0.6458，Claim review 4 条。Docker 固定演示另计，5/5 场景通过。三组数据不是同一批请求，不混算。边界表达命中率只检查无依据/越权子集中的边界短语，不代表通用或生产拒答准确率。Answer point coverage 使用人工答案点归一化文本匹配，是诊断指标，不是语义正确率。来源：docs/ENTERPRISE_POC_EVALUATION_REPORT.md。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成本口径来自 docs/ENTERPRISE_COST_MODEL.md。未展示供应商单价，也未提供客户报价。示例负载仅为假设，不用于对外承诺。方案选择前应核实地域、数据政策、GPU、并发、响应目标、备份和责任边界。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下一步路线基于评测报告中的 P0/P1/P2：提升 answer point coverage、人工复核 Claim queue、补齐版本与 ACL 元数据、增量索引/回滚/监控，并基于客户问题集做成本与负载验证。来源：docs/ENTERPRISE_POC_EVALUATION_REPORT.md、docs/ENTERPRISE_ARCHITECTURE.md。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a1a35b7aa6443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3eec8c3c584cf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30e1e2addd468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c05d8d077f472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40b0d2edbd41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e2c7fa8d3d40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C43CD6-1A03-4862-ACDB-F84C7B8F85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F0998A8-66D9-446E-A4B4-A4E2EEBFEEE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1A31ACA-E2B1-4977-ACBF-5BEAEBAC88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6D5E2B-1F09-48FB-A3C3-C00513D3C5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C776233-C2AB-44AE-9EFD-7DD2F877CE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E51F9ED-E00A-41E2-B3A7-76225727EB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D4E74F9-66A0-4F66-B42C-529847B43C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CBA25B1-5CB4-459E-80CA-1BE7454F302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E6E7D9-FF77-4286-A919-73B106D982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C5534B9-F6E4-45C4-AAFB-DE81AD2C3F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b5973e78a94301" /><Relationship Type="http://schemas.openxmlformats.org/officeDocument/2006/relationships/slideLayout" Target="/ppt/slideLayouts/slideLayout1.xml" Id="Re73a1778690f49e7" /><Relationship Type="http://schemas.openxmlformats.org/officeDocument/2006/relationships/slideLayout" Target="/ppt/slideLayouts/slideLayout2.xml" Id="Rfdb32b5be81e470e" /><Relationship Type="http://schemas.openxmlformats.org/officeDocument/2006/relationships/slideLayout" Target="/ppt/slideLayouts/slideLayout3.xml" Id="Rb4460401126c4f68" /><Relationship Type="http://schemas.openxmlformats.org/officeDocument/2006/relationships/slideLayout" Target="/ppt/slideLayouts/slideLayout4.xml" Id="R69a399b38cda48c6" /><Relationship Type="http://schemas.openxmlformats.org/officeDocument/2006/relationships/slideLayout" Target="/ppt/slideLayouts/slideLayout5.xml" Id="R1ec83a9eb7f34211" /><Relationship Type="http://schemas.openxmlformats.org/officeDocument/2006/relationships/slideLayout" Target="/ppt/slideLayouts/slideLayout6.xml" Id="R324b68d42ca94c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3a1778690f49e7"/>
    <p:sldLayoutId xmlns:r="http://schemas.openxmlformats.org/officeDocument/2006/relationships" id="2147483650" r:id="Rfdb32b5be81e470e"/>
    <p:sldLayoutId xmlns:r="http://schemas.openxmlformats.org/officeDocument/2006/relationships" id="2147483651" r:id="Rb4460401126c4f68"/>
    <p:sldLayoutId xmlns:r="http://schemas.openxmlformats.org/officeDocument/2006/relationships" id="2147483652" r:id="R69a399b38cda48c6"/>
    <p:sldLayoutId xmlns:r="http://schemas.openxmlformats.org/officeDocument/2006/relationships" id="2147483653" r:id="R1ec83a9eb7f34211"/>
    <p:sldLayoutId xmlns:r="http://schemas.openxmlformats.org/officeDocument/2006/relationships" id="2147483654" r:id="R324b68d42ca94c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3cfaa622874a05" /><Relationship Type="http://schemas.openxmlformats.org/officeDocument/2006/relationships/notesSlide" Target="/ppt/notesSlides/notesSlide1.xml" Id="Rc85411004aba4e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a41120ca0c4d23" /><Relationship Type="http://schemas.openxmlformats.org/officeDocument/2006/relationships/notesSlide" Target="/ppt/notesSlides/notesSlide2.xml" Id="R175f0f1b906247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782f3e77b64de6" /><Relationship Type="http://schemas.openxmlformats.org/officeDocument/2006/relationships/notesSlide" Target="/ppt/notesSlides/notesSlide3.xml" Id="Ref58c89e1a6c46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dacfc2772f4b78" /><Relationship Type="http://schemas.openxmlformats.org/officeDocument/2006/relationships/notesSlide" Target="/ppt/notesSlides/notesSlide4.xml" Id="Rb8ab648f045d42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556956fc9346d3" /><Relationship Type="http://schemas.openxmlformats.org/officeDocument/2006/relationships/notesSlide" Target="/ppt/notesSlides/notesSlide5.xml" Id="R609b2a3b3cc742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9d511e214f498e" /><Relationship Type="http://schemas.openxmlformats.org/officeDocument/2006/relationships/notesSlide" Target="/ppt/notesSlides/notesSlide6.xml" Id="R3b884b68fc6744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a75691a1b24369" /><Relationship Type="http://schemas.openxmlformats.org/officeDocument/2006/relationships/notesSlide" Target="/ppt/notesSlides/notesSlide7.xml" Id="R3028f5f8072a45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1294d58dc34189" /><Relationship Type="http://schemas.openxmlformats.org/officeDocument/2006/relationships/notesSlide" Target="/ppt/notesSlides/notesSlide8.xml" Id="R8ff983e1edab4a4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88a519d1394959" /><Relationship Type="http://schemas.openxmlformats.org/officeDocument/2006/relationships/notesSlide" Target="/ppt/notesSlides/notesSlide9.xml" Id="R436402bcc2ba4a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64f2946b8a4e43" /><Relationship Type="http://schemas.openxmlformats.org/officeDocument/2006/relationships/notesSlide" Target="/ppt/notesSlides/notesSlide10.xml" Id="Rc0d1970cb36d46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3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AB4F76-C5C1-4183-ADE5-6BF62F50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729E3C-C38D-40BE-82CE-A72B63D1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0"/>
            <a:ext cx="4429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01E5EA-3141-4261-B61C-AEE057B2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0"/>
            <a:ext cx="4429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588066-9ADD-4E71-A20B-18E03789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647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售前方案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FCE5A1-866B-4E95-AE50-EE099868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647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000" b="1">
                <a:solidFill>
                  <a:srgbClr val="8FD6C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8FD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8FD6C8"/>
                </a:solidFill>
                <a:latin typeface="Microsoft YaHei"/>
                <a:ea typeface="Microsoft YaHei"/>
                <a:cs typeface="Microsoft YaHei"/>
              </a:rPr>
              <a:t>企业知识库 RAG POC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1BE545-91D4-49CB-B42B-A36183E6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95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8AE1C7-7601-4DA9-BD63-D949670B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面向 AI 售前 / FDE 面试的方案说明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EE4C3A-5A6D-4BF4-B766-25324997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BDD1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BDD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DD1D1"/>
                </a:solidFill>
                <a:latin typeface="Microsoft YaHei"/>
                <a:ea typeface="Microsoft YaHei"/>
                <a:cs typeface="Microsoft YaHei"/>
              </a:rPr>
              <a:t>需求澄清  ·  技术取舍  ·  评测证据  ·  交付边界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4D36DC-E6AF-4CA2-A526-F6D531CE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BDD1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BDD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DD1D1"/>
                </a:solidFill>
                <a:latin typeface="Microsoft YaHei"/>
                <a:ea typeface="Microsoft YaHei"/>
                <a:cs typeface="Microsoft YaHei"/>
              </a:rPr>
              <a:t>基于模拟企业资料的离线 POC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3012D5-6257-4B92-A47B-DF6C317A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91AEB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91AE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1AEB0"/>
                </a:solidFill>
                <a:latin typeface="Microsoft YaHei"/>
                <a:ea typeface="Microsoft YaHei"/>
                <a:cs typeface="Microsoft YaHei"/>
              </a:rPr>
              <a:t>2026.10  |  v0.1-enterprise-rag-poc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B14DD1-7FE5-4F1D-A031-057E4411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8763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1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知识资料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1AD508-A930-4163-A0CA-21282660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314450"/>
            <a:ext cx="7810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8A51E8-0537-4CB7-BA5D-ECA2F945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049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8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产品手册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55E410-97A8-40F0-A91B-2A5F8AA6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AFA9BA-639F-4CE7-8797-02277178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621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239530-349D-4B1C-A72B-2227FDA5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428750"/>
            <a:ext cx="7810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4A70ED-1C1C-414A-BB93-40976FC5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16192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8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版本说明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1256B4-BB35-4B59-B0A6-9618636B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9240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91E020-822D-48A9-B76F-4F4B9201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764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6D54B5-05B7-4A72-9B90-490054AC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543050"/>
            <a:ext cx="7810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6343F4-307C-4C80-A47B-C90AC0F3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7335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8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故障记录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AEDAD3-DF3B-4C3F-9DFE-00A61177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383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A01BB3-18AA-40D4-81D0-D93ACCBE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1907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4ED1E3-8654-404E-A1D0-39469C22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765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1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检索与证据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9A5A0E-DD1A-4F69-83DC-3E318040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57550"/>
            <a:ext cx="2914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3CDFB7-75D5-48A7-B6CC-E4984F74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86125"/>
            <a:ext cx="2190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来源可追溯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45A091-DC6C-4A1F-9FAF-80129671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14750"/>
            <a:ext cx="2590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29E246-7F6C-4FD2-A14A-757E15DD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43325"/>
            <a:ext cx="2190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相关性排序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2CC256-200F-4509-B0DE-9C91A0F5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71950"/>
            <a:ext cx="2266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B3E279-EF20-4225-879B-D05724DA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00525"/>
            <a:ext cx="2190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证据可核验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89115C-52A7-4A59-AFFD-A1E77ECF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291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DC3E09-3936-460D-ADCF-50CF5038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57725"/>
            <a:ext cx="2190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不足时提示人工确认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E2FF95-D6EC-43D8-98B0-9047AFE3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91125"/>
            <a:ext cx="933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0DC41A-AC19-440D-AD8D-B4977AE6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133975"/>
            <a:ext cx="171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5A1B19-0385-4D21-A448-09D7796C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57750"/>
            <a:ext cx="857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2"/>
          </a:solidFill>
          <a:ln xmlns:a="http://schemas.openxmlformats.org/drawingml/2006/main" w="9525">
            <a:solidFill>
              <a:srgbClr val="27A6A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946150-E62A-4539-9A13-4DEC90E1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019675"/>
            <a:ext cx="74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103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03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343A"/>
                </a:solidFill>
                <a:latin typeface="Microsoft YaHei"/>
                <a:ea typeface="Microsoft YaHei"/>
                <a:cs typeface="Microsoft YaHei"/>
              </a:rPr>
              <a:t>有据回答</a:t>
            </a:r>
          </a:p>
        </p:txBody>
      </p:sp>
    </p:spTree>
    <p:extLst>
      <p:ext uri="{BB962C8B-B14F-4D97-AF65-F5344CB8AC3E}">
        <p14:creationId xmlns:p14="http://schemas.microsoft.com/office/powerpoint/2010/main" val="8353901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122384-8408-4BFB-B502-20098549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业务问题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11235-6AA3-4FAB-90C2-307C6ED3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7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企业知识分散，客服答复难以追溯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9BAA5-7630-48C4-8BD7-BF539478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8AC686-8D2B-46A3-90CE-12F7CE46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AI 售前作品集  /  模拟企业知识库 RAG POC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7A73C2-773B-4D86-A4DD-95032AE9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E7E56-5041-4E9D-8B01-E483F512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模拟客户场景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0F6887-17DB-4D1B-9B29-9008E3CE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667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客服、实施与售前需要查询产品手册、版本差异、故障记录和部署要求。资料分散时，查找慢，答案也难说明依据。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7F161A-B588-4042-8D20-0325548A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C53143-9A6E-466F-B2B2-FE8FBD50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本次 POC 验证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48B575-C68B-4B69-B4E7-84CDC046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45148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固定问题能否找到目标资料？</a:t>
            </a:r>
          </a:p>
          <a:p xmlns:a="http://schemas.openxmlformats.org/drawingml/2006/main">
            <a:pPr algn="l">
              <a:defRPr sz="15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答案能否附引用？</a:t>
            </a:r>
          </a:p>
          <a:p xmlns:a="http://schemas.openxmlformats.org/drawingml/2006/main">
            <a:pPr algn="l">
              <a:defRPr sz="15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证据不足时能否说明边界？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5309A8-901D-4B63-AE84-1D617784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57400"/>
            <a:ext cx="142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014977-DAE5-4D03-90D1-C4466A7C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050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产品咨询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C27CEA-8880-48D7-A04B-213FE005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43200"/>
            <a:ext cx="1504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版本、功能、限制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3D4198-25C9-4524-8083-E49F4475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057400"/>
            <a:ext cx="142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8D0A7-A49B-4EC9-A95B-D86F9117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3050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故障排查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0CB8A5-8F41-4FDA-BCBE-C21F3CF5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743200"/>
            <a:ext cx="1504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现象、检查步骤、SLA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0E1BDE-974D-4E85-80F0-03CA7734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57400"/>
            <a:ext cx="142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E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93D9D2-8244-4D04-889E-DA01B2F3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050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部署与权限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B94C39-8B40-4DCE-918F-3F459B71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43200"/>
            <a:ext cx="1504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网络、模型、访问边界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722AC6-019A-4F41-95E0-B300AD7A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81450"/>
            <a:ext cx="5162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方案价值假设：让知识问答带来源，并在资料不足时进入人工确认。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B2D4A3-4B0F-417E-B4CD-F60C52BE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72025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收益需在客户问题集、现有流程和实际使用数据上验证。</a:t>
            </a:r>
          </a:p>
        </p:txBody>
      </p:sp>
    </p:spTree>
    <p:extLst>
      <p:ext uri="{BB962C8B-B14F-4D97-AF65-F5344CB8AC3E}">
        <p14:creationId xmlns:p14="http://schemas.microsoft.com/office/powerpoint/2010/main" val="4374261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2962C7-77F8-4D95-B48F-EBCAF54C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需求澄清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B28EB5-18B3-43F3-87A9-4B05C18E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7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先确认数据、权限与验收口径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76076A-0CE1-4224-81EF-BA2A3695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F1C48-FB1D-45D2-B99E-EAEE52D5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AI 售前作品集  /  模拟企业知识库 RAG POC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72CC6-30A9-48BB-BA6E-467481A8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097C22-3682-4189-B54B-D15CCADA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69FBB1-764F-48DD-A9E2-702D2F21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资料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6DB543-4C05-44F9-A095-544322DD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DA8222-AA40-48A5-A165-07FA34DB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289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文档格式、数量与责任人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D92DC8-50B7-4751-A621-F30FA443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38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215BF2-66ED-4DA5-A8A3-6F811C63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81375"/>
            <a:ext cx="289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更新频率、版本与有效状态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71FE96-99DA-44E7-800F-C83D6E97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2C7994-BBFE-48F4-8649-94D1890D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289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敏感级别及允许的处理位置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FE4E48-3B7A-469B-B255-E8ABF1A2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62125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647471-CDE5-4A3E-A6E3-991EF0BD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812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使用与权限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842A41-9C11-4297-AA07-5FE4E2A6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71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E5F555-E12D-4F68-AFF7-C3EF6142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14600"/>
            <a:ext cx="289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用户角色、身份源与组织关系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3C9131-2369-490C-971C-FBB0BE16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38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AF16AF-AFD9-494D-8147-5E998F0E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81375"/>
            <a:ext cx="289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SSO、文档权限继承与审计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DF79AB-F198-4BBF-BC87-ADD140AC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05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F92BC4-9DA3-4D72-846A-95832A78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48150"/>
            <a:ext cx="289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日均问题量、峰值并发与响应目标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B79867-EF69-4915-A6BD-1C884B92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62125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E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9DC802-5176-4F84-A7DE-E150FE58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812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验收与运营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3CFD68-02CD-4AD2-9A21-EC3BE606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71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AE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553EF9-ECA3-4D2C-B6DF-3A661102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289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客户问题集和可回答范围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591536-D9E2-4BA3-9D7E-07BFB3BF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38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AE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228932-5CE0-4DEB-8E1B-976931AD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81375"/>
            <a:ext cx="289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引用、拒答、覆盖率的口径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5D6192-FD48-42C3-9CC8-167A74D1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05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AE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B31CFD-D0A5-41A2-941C-9FF970A3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48150"/>
            <a:ext cx="289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人工审核、升级和运维责任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C676F4-B9DE-4056-9492-3D8D6A02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FA7C2C-86C8-47EA-A7EB-15BC99C9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建议验收维度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7B1B1C-D177-4FE6-9F21-E062DFD7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4483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检索命中与排序  /  答案覆盖与引用  /  拒答边界  /  延迟  /  权限测试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4E964B-967A-4540-B7C2-659256F0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验收阈值由客户数据与风险等级共同确定。本次观察值不等于客户目标。</a:t>
            </a:r>
          </a:p>
        </p:txBody>
      </p:sp>
    </p:spTree>
    <p:extLst>
      <p:ext uri="{BB962C8B-B14F-4D97-AF65-F5344CB8AC3E}">
        <p14:creationId xmlns:p14="http://schemas.microsoft.com/office/powerpoint/2010/main" val="2980079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8099563-B21F-47B8-BF05-D25D0D86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方案流程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6205EB-0B25-4763-BCE0-F64B4271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7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答案链路在生成前后设置证据闸门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1DE7E1-0A0A-4E27-9619-8FB5F3B5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D7E7F5-CED8-40B5-A815-B366848E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AI 售前作品集  /  模拟企业知识库 RAG POC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92BB1C-C87A-4B83-A028-55B5E9F9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802803-FB60-4F82-B142-D3DB1B41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200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B74564-C51A-425D-9D88-DCCE6193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518A9D-5481-4FC4-9F9A-A5E33C73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38425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提问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234808-A53E-4F1C-9D3A-6C9DB1B8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1325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API 校验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465BB-4FF9-4CA0-8F3D-900B80DD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9337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86A812-A1A0-4FD5-9D5E-60DD4897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905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B22915-BFB4-436B-A728-7BCB9F88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476500"/>
            <a:ext cx="1200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C17798-2E6D-4FB0-BB0C-82064013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476500"/>
            <a:ext cx="47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6291F6-82A2-4161-A701-B1AA437F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590800"/>
            <a:ext cx="1066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25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业务域过滤</a:t>
            </a:r>
          </a:p>
          <a:p xmlns:a="http://schemas.openxmlformats.org/drawingml/2006/main">
            <a:pPr algn="l">
              <a:defRPr sz="825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（domain=enterprise）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B4E3A3-7B5D-4263-8055-D55DE6C8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337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C9ED17-9028-4623-9374-B8D649EB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905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87C388-78E7-4D18-8FB5-CB056350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76500"/>
            <a:ext cx="1200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253694-BFBC-45A9-83B6-EF770820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76500"/>
            <a:ext cx="47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45AB26-79D9-4AC2-9C12-22CCD228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38425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混合检索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274D3F-3CEA-4D87-901A-9C177470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81325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向量 + BM25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DF6CC7-47C1-48C7-AF63-7697D43D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337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AE547E-C1DA-4AD0-A61E-09E6BF2C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05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D9E65D-95D8-419E-AB58-40084819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76500"/>
            <a:ext cx="1200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498EFC-30AD-4DC4-8892-5DB9BB32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76500"/>
            <a:ext cx="47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D54A98-1791-4ED2-8DCD-062C8783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38425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合并排序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2C4543-162A-43CA-8C09-74F17E29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81325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RRF / 可选重排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355886-F11E-4683-9D76-49976704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9337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FB1ADA-4AF6-440A-82BC-D8A4FD00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905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A2B283-964B-4CCE-B8B1-0152E523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1200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D75B4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BC0B84-F987-4772-BAF2-7F058056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47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A7A250-6AE9-4091-983A-3EBC659E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38425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证据判断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87E262-A565-44B7-936D-11054A7A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81325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不足则提示人工确认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A3343E-A550-4A38-9590-D9CAC9C3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337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0CA63A-E0B8-4047-BE39-309CCA4D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905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0D37F7-04C5-4152-85A6-E0246167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76500"/>
            <a:ext cx="1200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0D5C9B-FEFF-45B9-9199-53808007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76500"/>
            <a:ext cx="47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5EF598-96FE-4CCB-9712-A625F5E2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38425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生成回答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5B3D9F-9FA7-482F-9F87-65DEEB46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81325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只基于证据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BBE323-63DF-4D3B-AF37-80DA0907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337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5C1337B-28AF-4661-A6AD-0B4F05D2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905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47F4D0-3500-41B3-B1DB-937BBC48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76500"/>
            <a:ext cx="1200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81D7D84-062D-49BC-8ED4-F977C070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76500"/>
            <a:ext cx="47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2F5081E-A19F-4908-BC40-6DAE30E5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38425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Claim 校验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09F25FE-71CE-405B-BA74-6B3D23C8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81325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引用与内容核对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64051F0-8340-446B-A714-0E6A34DB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9337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EA12C0E-51ED-46C1-8856-1734E1EA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905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1E99B84-E51F-43A8-BA98-28A30038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476500"/>
            <a:ext cx="1200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D1674D7-88B9-4C18-BEAE-33FC4CCC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476500"/>
            <a:ext cx="47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C588A16-1FF8-4A2C-A35F-4F85F8EE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638425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Output Gate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03753AB-A114-4D79-9855-8FB806AA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981325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放行或受控提示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3B1EF15-7588-450A-B62D-030EEA48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9728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21184B6-41F1-4D5D-B5E4-59DA47D8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1">
                <a:solidFill>
                  <a:srgbClr val="8FD6C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8FD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FD6C8"/>
                </a:solidFill>
                <a:latin typeface="Microsoft YaHei"/>
                <a:ea typeface="Microsoft YaHei"/>
                <a:cs typeface="Microsoft YaHei"/>
              </a:rPr>
              <a:t>人工确认条件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DB5559E-02E8-426B-A360-3CD6B3CE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10248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证据不足  /  资料冲突  /  权限不明  /  Claim 需要复核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E0DBD08-18D9-475C-94D4-3992C15B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判断：把拒答和人工复核作为方案能力的一部分，避免只展示“能回答”。</a:t>
            </a:r>
          </a:p>
        </p:txBody>
      </p:sp>
    </p:spTree>
    <p:extLst>
      <p:ext uri="{BB962C8B-B14F-4D97-AF65-F5344CB8AC3E}">
        <p14:creationId xmlns:p14="http://schemas.microsoft.com/office/powerpoint/2010/main" val="6612726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EA1FAE-6361-4E65-87A8-A2BFD624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技术架构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FBDC56-93B2-4757-B739-54AB206B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7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混合检索连接模拟资料与受控生成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A1714F-8947-442F-86F3-FABBC96F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EB0C2-2D02-4149-AC4A-3AE078D5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AI 售前作品集  /  模拟企业知识库 RAG POC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E7BB6D-1D2B-411C-A848-5CD1BBA1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3876F6-D3BB-426A-A5FC-CCEA9602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2190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63EFF1-C201-436E-BE8A-06238887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47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33E252-43F2-488B-90E5-E8433A1E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6217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资料层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1CC990-2700-41A0-8742-32D5F27C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86025"/>
            <a:ext cx="18669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Markdown Vault</a:t>
            </a:r>
          </a:p>
          <a:p xmlns:a="http://schemas.openxmlformats.org/drawingml/2006/main">
            <a:pPr algn="l">
              <a:defRPr sz="112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元数据与 Chunk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54990-232B-4CEA-93C0-A89B00A8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38350"/>
            <a:ext cx="2190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3D0143-2FD2-4756-852A-D7A676AA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383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FB8F68-CCDE-43A3-8AB2-67AB6139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16217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检索层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4C1A68-7C59-4C20-B290-38D50924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486025"/>
            <a:ext cx="18669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BGE-M3 + FAISS</a:t>
            </a:r>
          </a:p>
          <a:p xmlns:a="http://schemas.openxmlformats.org/drawingml/2006/main">
            <a:pPr algn="l">
              <a:defRPr sz="112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BM25 + Whoosh</a:t>
            </a:r>
          </a:p>
          <a:p xmlns:a="http://schemas.openxmlformats.org/drawingml/2006/main">
            <a:pPr algn="l">
              <a:defRPr sz="112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RRF / 可选重排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605966-38FA-41BC-BCA4-DD56ED68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2190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709CB8-BAA5-49F1-8D39-28555AA0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736287-418C-42A9-9D9C-535D1131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6217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A03985-21D9-4F85-8B54-261B4123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86025"/>
            <a:ext cx="18669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FastAPI / QueryEngine</a:t>
            </a:r>
          </a:p>
          <a:p xmlns:a="http://schemas.openxmlformats.org/drawingml/2006/main">
            <a:pPr algn="l">
              <a:defRPr sz="112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Answer Agent</a:t>
            </a:r>
          </a:p>
          <a:p xmlns:a="http://schemas.openxmlformats.org/drawingml/2006/main">
            <a:pPr algn="l">
              <a:defRPr sz="112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Claim 与 Output Gates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52C9DE-A3FE-429F-BCDE-900CA665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38350"/>
            <a:ext cx="2190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AB568B-D66A-400A-8DAB-B15A639D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383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E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04C07D-A9B1-4217-B4A0-6F2BB6E5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6217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运行层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088D57-7827-4443-9D96-5FAD6CB9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486025"/>
            <a:ext cx="18669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Ollama 本地模型</a:t>
            </a:r>
          </a:p>
          <a:p xmlns:a="http://schemas.openxmlformats.org/drawingml/2006/main">
            <a:pPr algn="l">
              <a:defRPr sz="112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Docker Compose</a:t>
            </a:r>
          </a:p>
          <a:p xmlns:a="http://schemas.openxmlformats.org/drawingml/2006/main">
            <a:pPr algn="l">
              <a:defRPr sz="112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索引与审计记录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E22ED1-C6F8-4D93-9BE9-773589AB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6222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52C84B-7FE6-436A-BD3A-A29903F4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05075"/>
            <a:ext cx="171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613DB0-A27F-457B-9513-878496E4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56222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6AEE8B-0E21-4625-9788-3670F6B3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505075"/>
            <a:ext cx="171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2E3441-C975-4229-859D-E0C4C569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6222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9162AA-1C79-419A-9AFD-FADFDBF5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05075"/>
            <a:ext cx="171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C15510-E1A3-4317-9284-49ECA192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输入：16 篇模拟文档 / 45 个 chunk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08388F-3A38-490E-90AA-5EFD7B7F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862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D75B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D75B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75B47"/>
                </a:solidFill>
                <a:latin typeface="Microsoft YaHei"/>
                <a:ea typeface="Microsoft YaHei"/>
                <a:cs typeface="Microsoft YaHei"/>
              </a:rPr>
              <a:t>输出：答案、Citation、置信度与边界提示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FE21DD-B04B-434A-A869-E9C3A0B4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4ACFCB-2CB6-4BAF-9724-B14FB79F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1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规模与部署判断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4CA785-3FB5-4927-8684-45019C6C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67300"/>
            <a:ext cx="10620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FAISS + Whoosh 适合本地 POC。生产规模、峰值 QPS、GPU、数据敏感性与运维要求明确后，再选择云上、混合或私有化组件。</a:t>
            </a:r>
          </a:p>
        </p:txBody>
      </p:sp>
    </p:spTree>
    <p:extLst>
      <p:ext uri="{BB962C8B-B14F-4D97-AF65-F5344CB8AC3E}">
        <p14:creationId xmlns:p14="http://schemas.microsoft.com/office/powerpoint/2010/main" val="12015144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C82080-EB0D-4846-A1B4-C759637D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DEMO 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A25D8D-3677-4BD8-A75E-F7711C77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7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固定问题覆盖产品、故障与部署主线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D733DE-03B1-4C5E-B974-9CB39FAD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5B89D-C41E-4D9D-A512-4A9F79F5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AI 售前作品集  /  模拟企业知识库 RAG POC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2FA25D-F152-4352-8604-7EBAEA16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3B9CA-269F-4162-90C0-93AF98EB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933C98-56F4-4563-ADC8-4A766548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859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产品咨询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E8D4DB-54D4-4EC5-9448-9116CFFC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95450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版本能力与产品限制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70FD17-58A3-44EE-AF58-F7C5D617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6859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200" b="1">
                <a:solidFill>
                  <a:srgbClr val="2C8C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2C8C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C8C68"/>
                </a:solidFill>
                <a:latin typeface="Microsoft YaHei"/>
                <a:ea typeface="Microsoft YaHei"/>
                <a:cs typeface="Microsoft YaHei"/>
              </a:rPr>
              <a:t>引用返回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ED71CD-0358-4C92-A325-223989DD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C5EAF9-159B-469F-AA54-2CE12732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DAE50D-DC71-41E1-806A-3558302A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574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故障排查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AF0FE2-FEB5-45A8-BB81-016B2661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66975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无法接收新工单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C69824-52AE-4260-898C-FACB2EDF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574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200" b="1">
                <a:solidFill>
                  <a:srgbClr val="2C8C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2C8C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C8C68"/>
                </a:solidFill>
                <a:latin typeface="Microsoft YaHei"/>
                <a:ea typeface="Microsoft YaHei"/>
                <a:cs typeface="Microsoft YaHei"/>
              </a:rPr>
              <a:t>引用返回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BCB7FC-3960-4199-8F03-F6B7A537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B33FCB-E57F-464A-9946-661D11F9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289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BFA7E5-1956-4BFF-AF41-27B95921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289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版本说明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4D9AB9-E0A2-4F6E-BC6C-7F3220F1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38500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v1.1 与 v1.2 差异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45E231-4A97-4319-A264-78EE4369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289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200" b="1">
                <a:solidFill>
                  <a:srgbClr val="2C8C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2C8C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C8C68"/>
                </a:solidFill>
                <a:latin typeface="Microsoft YaHei"/>
                <a:ea typeface="Microsoft YaHei"/>
                <a:cs typeface="Microsoft YaHei"/>
              </a:rPr>
              <a:t>引用返回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746B3E-93D4-45A1-B997-3B502F20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F45E6F-216C-4482-8402-6CF4C0F3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6376A2-DDED-4B42-B818-690CEF3B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私有化部署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CE88CA-1CFD-4D9B-B532-FC983EB2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10025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网络、模型与环境检查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4C47F8-605A-4754-8499-E0DD5AE1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00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200" b="1">
                <a:solidFill>
                  <a:srgbClr val="2C8C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2C8C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C8C68"/>
                </a:solidFill>
                <a:latin typeface="Microsoft YaHei"/>
                <a:ea typeface="Microsoft YaHei"/>
                <a:cs typeface="Microsoft YaHei"/>
              </a:rPr>
              <a:t>引用返回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9168E0-7337-42A6-B1CA-1A3C5BBB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5C9A74-1B3A-403B-AD58-022916C2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720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D75B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75B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75B4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FA4EA-DD94-4F1C-AA13-D4DE033A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720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边界问题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951CF4-67B8-417E-A480-C0C63663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781550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无依据内容提示人工确认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F2C536-DBFE-4A1B-A664-502E0F65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7720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200" b="1">
                <a:solidFill>
                  <a:srgbClr val="D75B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D75B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75B47"/>
                </a:solidFill>
                <a:latin typeface="Microsoft YaHei"/>
                <a:ea typeface="Microsoft YaHei"/>
                <a:cs typeface="Microsoft YaHei"/>
              </a:rPr>
              <a:t>边界表达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A108D8-0B57-4AB9-92B7-AABA5F6B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D11E64-A6BD-4DE4-94E4-E9927758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4DEFAC-DADB-42F1-8FBC-065F609B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72150"/>
            <a:ext cx="1052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103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3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343A"/>
                </a:solidFill>
                <a:latin typeface="Microsoft YaHei"/>
                <a:ea typeface="Microsoft YaHei"/>
                <a:cs typeface="Microsoft YaHei"/>
              </a:rPr>
              <a:t>Docker 演示证据：5 / 5 场景通过；索引健康状态 ok；每个场景有 Citation。</a:t>
            </a:r>
          </a:p>
        </p:txBody>
      </p:sp>
    </p:spTree>
    <p:extLst>
      <p:ext uri="{BB962C8B-B14F-4D97-AF65-F5344CB8AC3E}">
        <p14:creationId xmlns:p14="http://schemas.microsoft.com/office/powerpoint/2010/main" val="4474147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D38C6F-DE69-44BD-AD70-EF12BC61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安全与权限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F7F8D-8432-4364-93A6-DFC2E323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7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安全边界要区分已实现与待交付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D05F8D-8E79-4E72-B36B-16F7B3BF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91979-FABD-410D-B011-A3EC2055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AI 售前作品集  /  模拟企业知识库 RAG POC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500C42-8395-4BF8-8872-04E66BA9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32ED64-E2E6-4929-AB30-FA86B9C2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371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2C8C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C8C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C8C68"/>
                </a:solidFill>
                <a:latin typeface="Microsoft YaHei"/>
                <a:ea typeface="Microsoft YaHei"/>
                <a:cs typeface="Microsoft YaHei"/>
              </a:rPr>
              <a:t>本地 POC 已验证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6B6466-AFB8-4457-8216-AEFE7984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3371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5AB5E3-50C5-414E-8621-BFAD5D92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8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AF5EDA-11D1-4EB1-8FBD-AB6E98B3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API Token 鉴权与限流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227524-0ED5-4072-BFDE-99BA2810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8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80CA13-4FDB-4BF3-B3CC-45464143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domain=enterprise 过滤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F0857F-5D95-4C23-8BD6-E8920E2F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90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8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8C5B57-D686-4D19-AF17-EF83881D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Citation / Claim / Output 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4342B8-A79C-44FD-8848-A1E0303C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8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D08A6C-99C3-46F4-9FDD-31D7D268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索引健康检查与 Docker 演示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26FFFF-C568-4249-877C-6400D26F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52600"/>
            <a:ext cx="3371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E3AE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E3AE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3AE4B"/>
                </a:solidFill>
                <a:latin typeface="Microsoft YaHei"/>
                <a:ea typeface="Microsoft YaHei"/>
                <a:cs typeface="Microsoft YaHei"/>
              </a:rPr>
              <a:t>客户环境待验证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45312D-1769-4E43-9A30-7EAE011D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71700"/>
            <a:ext cx="3371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E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CB23C4-4681-4234-A90B-59E484D2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57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AE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75FFF8-79EF-425D-9C48-6DC61CCC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81250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鉴权策略接入客户网关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AFFAE1-B1AE-4AD4-B43D-5995374E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24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AE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813002-1BEE-4930-B92A-9EB5BFF3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48000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业务域过滤映射客户资料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DC76DF-86D9-48B7-9F88-67FE8CB4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90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AE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8ED621-1B5E-45E9-BDBF-98985190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14750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Compose 与模型资源部署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901CE3-AA55-4C22-A537-1AF2050B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57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AE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87887D-F726-4C90-B255-DDB6BBBE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81500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客户网络、并发与响应表现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58BE6E-4C35-4CF6-B9E3-A0EC4959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52600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D75B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D75B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75B47"/>
                </a:solidFill>
                <a:latin typeface="Microsoft YaHei"/>
                <a:ea typeface="Microsoft YaHei"/>
                <a:cs typeface="Microsoft YaHei"/>
              </a:rPr>
              <a:t>方案设计，尚未实现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7920F6-0819-40F8-9EBF-C3487F4E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71700"/>
            <a:ext cx="358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6A1338-3D5E-4CC8-8CF8-B291AB9E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57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BF4696-67EA-43DD-83B9-299A728F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真实 SSO、组织同步与 ACL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C1546D-F40F-4C89-A844-7C5C73D5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24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6FB2B5-6802-4005-8CEF-E1559543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文档权限继承和越权审计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5B2EBD-5529-4E39-A6AC-30413880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90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75C32C-9BA6-4ADC-9FA9-CFF3727F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正式版本 / 生效状态过滤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F5F7A6-D8C6-48D7-A019-FE11DC15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57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386417-9477-4824-B5EB-15FB643B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8150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增量索引、回滚、监控与告警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3A1757-8467-4A56-BA09-F00E9187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1097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9615FE-3892-4FCB-BBF5-DAD2A93E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05450"/>
            <a:ext cx="1055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1">
                <a:solidFill>
                  <a:srgbClr val="8E3F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8E3F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E3F32"/>
                </a:solidFill>
                <a:latin typeface="Microsoft YaHei"/>
                <a:ea typeface="Microsoft YaHei"/>
                <a:cs typeface="Microsoft YaHei"/>
              </a:rPr>
              <a:t>domain=enterprise 属于业务域过滤，不等于用户 ACL 隔离；当前未接真实 SSO 或企业 ACL。</a:t>
            </a:r>
          </a:p>
        </p:txBody>
      </p:sp>
    </p:spTree>
    <p:extLst>
      <p:ext uri="{BB962C8B-B14F-4D97-AF65-F5344CB8AC3E}">
        <p14:creationId xmlns:p14="http://schemas.microsoft.com/office/powerpoint/2010/main" val="10026756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298212-E22E-4DF6-97D8-1CDF47A6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POC 评测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35B56A-E502-4660-B3CF-C190CCBA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7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检索命中较好，答案覆盖仍是主要短板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7E6DF4-BFCA-4158-99E9-8ADD965E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F659FF-DDCF-4D22-9232-BDBDD8F8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AI 售前作品集  /  模拟企业知识库 RAG POC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936F7D-5C39-4183-9E9F-3645B8C8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869F57-18D0-4F93-8775-C368F5C4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基于模拟企业资料的离线评测  |  评测日期：2026-10-08  |  代码基线：22dc574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77BBF-EBCD-470C-8A2D-1C1F9271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1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278883-9933-46EF-9160-174799BF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097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22 条完整问题集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B41ED0-A654-4296-B55E-0D0506FB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5 条 core_demo 子集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235FAD-0464-43B8-9206-A122945D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24AFFA-4DCD-42E8-B4D9-4DA04471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Recall@5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832250-5D7F-4F9C-A4ED-C1BB47EF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098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1.0000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1A6AF3-2FE0-4B09-95DE-3CB204CA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09825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1.0000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FA9AD6-AB46-4A19-BD81-212ACCBB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8B19C9-D8AB-47D4-B693-4C17975A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MRR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79F193-C3C8-4396-9F85-65E9CE4E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813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0.7935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1FF780-57C3-4581-B0D5-B61E8EBB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8130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0.8750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C1F983-6699-4087-AC40-3AD6377C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5CEDE4-4BB4-494F-9CB7-BCBD0103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Source coverage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EA5069-1616-4F12-82B1-B3EA28B3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527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0.8519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15D626-3E24-4A0A-B264-22871441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52775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0.8750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E315D9-3C51-4EA2-8932-E07BF6C5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6D17B0-CDEC-46B9-9818-22DFFCC5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Claim citation grounding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A47F9F-7023-43C7-87C0-CD5267F9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242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0.8947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CEC730-DB23-4E96-9D19-A35EC51B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242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0.6667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28B2EB-E27E-4373-A203-2D50C547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62F88C-5A8F-4493-A7E3-3A123772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Claim semantic grounding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3470FB-36F2-4AB7-AB36-59E3AF44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957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0.7895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1EEFA1-2374-4F64-A97C-51BEA44E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95725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0.6667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303F7D-C19D-4C78-9775-2B8489D7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28AE4C-245E-426B-BB0B-ABE7A398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边界表达命中率（短语规则）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C8580D-CFD6-4669-923F-9D941411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67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4/4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64A361-192F-46DD-839C-DE81ED79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1/1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A727F3-2A99-47D1-A8A9-059D638D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AC3BB8-21D5-479F-B12F-C56FCC4A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Answer point coverage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81CD9D-0916-4507-A9A1-E31CF545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386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D75B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D75B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75B47"/>
                </a:solidFill>
                <a:latin typeface="Microsoft YaHei"/>
                <a:ea typeface="Microsoft YaHei"/>
                <a:cs typeface="Microsoft YaHei"/>
              </a:rPr>
              <a:t>0.4843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346980-38C8-4B4B-B0A9-D6B49D94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38675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0.6458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84F800-58CD-43AE-AE69-3783E84B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1B4DF9-7A3F-4E63-BAFB-8E903B85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Claim review count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8FA77B-8999-4BE9-A8D5-1C984FD2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0101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8 条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2231E32-D5BD-4AF8-A257-9B58869B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101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D75B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D75B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75B47"/>
                </a:solidFill>
                <a:latin typeface="Microsoft YaHei"/>
                <a:ea typeface="Microsoft YaHei"/>
                <a:cs typeface="Microsoft YaHei"/>
              </a:rPr>
              <a:t>4 条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6E9BC4-7BEB-4AE9-8249-0AFF555E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5BE0587-113A-4FAE-83E9-DBF34D8A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109728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AA75A9A-F48A-40EF-9505-5242294E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Docker 固定演示场景另计：5 / 5 场景通过，不与 core_demo 或 22 条全集混算。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FCCF049-4CB1-4BAD-948E-7261F2F1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注：边界表达命中率只按无依据 / 越权子集做短语规则匹配，不代表通用或生产拒答准确率。</a:t>
            </a:r>
          </a:p>
          <a:p xmlns:a="http://schemas.openxmlformats.org/drawingml/2006/main">
            <a:pPr algn="l">
              <a:defRPr sz="9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Answer point coverage 为文本匹配诊断指标，不代表语义正确率。</a:t>
            </a:r>
          </a:p>
        </p:txBody>
      </p:sp>
    </p:spTree>
    <p:extLst>
      <p:ext uri="{BB962C8B-B14F-4D97-AF65-F5344CB8AC3E}">
        <p14:creationId xmlns:p14="http://schemas.microsoft.com/office/powerpoint/2010/main" val="19020688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CB7AFD-7426-4DD2-85FB-C3B66047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选型与成本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569AA3-9078-4457-8659-84CE4B7F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7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部署与成本由数据、负载和运维责任决定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2D96F8-D39B-4B8E-84E3-0D3FD58F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FB232-F777-48A5-82BE-6CB11F80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AI 售前作品集  /  模拟企业知识库 RAG POC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D8EAF6-3753-4A28-8177-FB76C447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CA44DC-6EAB-46AB-81E7-9A098EFF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049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1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部署方式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868513-AEFF-430D-9865-1680EEA8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7049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1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适用条件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88A569-0A50-4929-BF61-97AE74A4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0497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1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主要取舍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71E21B-30E7-456D-8977-C57F3D27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092F31-97F7-4350-B567-E9AB7008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CB3357-607E-44CD-AE15-90C588DB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4C051B-6872-4645-9841-4B6791E2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66950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低敏感、低规模、快速验证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1CD01D-5920-4915-9831-5A9DD64B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66950"/>
            <a:ext cx="452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上线快，需评估外部数据处理要求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6FEEC4-3523-46F8-803B-C688FF42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3741FB-1E41-437E-BA90-8E73E7D6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57525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9D4FDB-FCE6-45CD-B911-DC87C597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718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云上 / 混合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A7F73E-7BE7-4C3A-8AFB-A4472A61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33725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中等规模，需要数据隔离与弹性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E33BCD-C691-4E7B-A26A-91050D0D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33725"/>
            <a:ext cx="452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平衡控制力和运维投入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1D2050-3829-4055-84DA-CBCD99CA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81425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00C603-1C69-44E5-8B28-AD76591B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0DCE64-77E1-4694-8C17-DFA7F9F8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私有化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AD3F36-8848-4F61-A23D-7FF8541C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00500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高敏感或内网限制，负载较稳定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180A0F-CC4F-4227-B5E1-2F7F76B0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00500"/>
            <a:ext cx="452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控制力高，需承担硬件和运维成本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453659-7FE8-404A-A086-8F1F17FB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4820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B7E621-08A5-4E63-9CCF-2EBADCA7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API 月成本公式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AD1E5D-1AB0-48A6-B351-681B99C7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0542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2A35"/>
                </a:solidFill>
                <a:latin typeface="Microsoft YaHei"/>
                <a:ea typeface="Microsoft YaHei"/>
                <a:cs typeface="Microsoft YaHei"/>
              </a:rPr>
              <a:t>问题量 × 平均输入 / 输出 Token × 工作日 × 供应商单价 + Embedding / 重排等调用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66A823-A877-472C-B9A6-9A0011F2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91200"/>
            <a:ext cx="1062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771"/>
                </a:solidFill>
                <a:latin typeface="Microsoft YaHei"/>
                <a:ea typeface="Microsoft YaHei"/>
                <a:cs typeface="Microsoft YaHei"/>
              </a:rPr>
              <a:t>本材料只有假设参数与公式，不是报价。实际核算还要加入计算、存储、日志、GPU 和运维。</a:t>
            </a:r>
          </a:p>
        </p:txBody>
      </p:sp>
    </p:spTree>
    <p:extLst>
      <p:ext uri="{BB962C8B-B14F-4D97-AF65-F5344CB8AC3E}">
        <p14:creationId xmlns:p14="http://schemas.microsoft.com/office/powerpoint/2010/main" val="14835891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3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525459-2EEF-4055-82BD-A039D121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8FD6C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8FD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FD6C8"/>
                </a:solidFill>
                <a:latin typeface="Microsoft YaHei"/>
                <a:ea typeface="Microsoft YaHei"/>
                <a:cs typeface="Microsoft YaHei"/>
              </a:rPr>
              <a:t>交付边界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35E071-1F41-4E60-B6EC-0ADAEA29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POC 可复现，生产交付仍需客户数据验证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E67830-7C38-41E0-8F66-A6F5A09F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ED9720-A3C5-425D-B80D-C29D3338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0">
                <a:solidFill>
                  <a:srgbClr val="A9C0C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9C0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9C0C1"/>
                </a:solidFill>
                <a:latin typeface="Microsoft YaHei"/>
                <a:ea typeface="Microsoft YaHei"/>
                <a:cs typeface="Microsoft YaHei"/>
              </a:rPr>
              <a:t>AI 售前作品集  /  模拟企业知识库 RAG POC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7569C9-C7D1-4211-93A3-1303904E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A9C0C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A9C0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A9C0C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8215A-9DA1-4295-B9E3-3D8F0937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8FD6C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8FD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FD6C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4AB0EB-CCB8-4FCC-9521-20CBB5CD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47925"/>
            <a:ext cx="198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3B2323-ACDA-47DC-921D-DECDE8DE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5747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需求与数据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E85B27-EDEA-454A-85EA-803EDEE8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14675"/>
            <a:ext cx="2114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BDD1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BDD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DD1D1"/>
                </a:solidFill>
                <a:latin typeface="Microsoft YaHei"/>
                <a:ea typeface="Microsoft YaHei"/>
                <a:cs typeface="Microsoft YaHei"/>
              </a:rPr>
              <a:t>确认权限、资料和验收集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D928FB-8E61-4E09-810D-2696E6D2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002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8FD6C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8FD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FD6C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4694DE-25B5-43CA-B36B-43F827C3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47925"/>
            <a:ext cx="198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8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466869-2B1C-4891-9A9A-A97A8FE8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5747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质量优化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499D23-FA8A-46B4-B326-EBB29AE7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14675"/>
            <a:ext cx="2114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BDD1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BDD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DD1D1"/>
                </a:solidFill>
                <a:latin typeface="Microsoft YaHei"/>
                <a:ea typeface="Microsoft YaHei"/>
                <a:cs typeface="Microsoft YaHei"/>
              </a:rPr>
              <a:t>优化答案覆盖；复核 8 条 Claim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1653E0-E40E-479C-BBD3-76379725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002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8FD6C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8FD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FD6C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142C9F-F199-46DC-B01D-F1A66C85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47925"/>
            <a:ext cx="198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8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DE11D7-2185-44C6-BDDF-50B3C1B4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5747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企业能力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7FE522-8B67-4AB3-B04F-651C6FEE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14675"/>
            <a:ext cx="2114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BDD1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BDD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DD1D1"/>
                </a:solidFill>
                <a:latin typeface="Microsoft YaHei"/>
                <a:ea typeface="Microsoft YaHei"/>
                <a:cs typeface="Microsoft YaHei"/>
              </a:rPr>
              <a:t>补版本元数据、ACL、增量索引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E2ED7C-2B6F-4CBC-9E53-04575FCC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8FD6C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8FD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FD6C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ACC86E-D094-4334-9084-3D4C7E3F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47925"/>
            <a:ext cx="198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8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D3CB10-7FFC-4FDB-B44C-34C99E73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5747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8868C8-37D9-4AF4-8B97-F650B5BE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14675"/>
            <a:ext cx="2114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BDD1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BDD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DD1D1"/>
                </a:solidFill>
                <a:latin typeface="Microsoft YaHei"/>
                <a:ea typeface="Microsoft YaHei"/>
                <a:cs typeface="Microsoft YaHei"/>
              </a:rPr>
              <a:t>压测、成本核算与试点验收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8D9882-B37F-4BF6-A71C-D3F64DEB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8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6237D3-3F65-4DD5-B590-494A0A9C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96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1">
                <a:solidFill>
                  <a:srgbClr val="8FD6C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8FD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FD6C8"/>
                </a:solidFill>
                <a:latin typeface="Microsoft YaHei"/>
                <a:ea typeface="Microsoft YaHei"/>
                <a:cs typeface="Microsoft YaHei"/>
              </a:rPr>
              <a:t>本次交付证据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810FCA-4435-425D-9E96-9A96AA5C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911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可复现 Docker Demo  |  22 条离线评测  |  架构与成本测算说明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A64784-CD60-431F-AE6A-AA505832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10706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BDD1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BDD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DD1D1"/>
                </a:solidFill>
                <a:latin typeface="Microsoft YaHei"/>
                <a:ea typeface="Microsoft YaHei"/>
                <a:cs typeface="Microsoft YaHei"/>
              </a:rPr>
              <a:t>限制：模拟资料，无真实客户收益数据；未接入真实 SSO / ACL；离线结果不构成生产准确率或 SLA。</a:t>
            </a:r>
          </a:p>
        </p:txBody>
      </p:sp>
    </p:spTree>
    <p:extLst>
      <p:ext uri="{BB962C8B-B14F-4D97-AF65-F5344CB8AC3E}">
        <p14:creationId xmlns:p14="http://schemas.microsoft.com/office/powerpoint/2010/main" val="1563930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2026-10-08T20:44:21.3630000Z</dcterms:created>
  <dcterms:modified xsi:type="dcterms:W3CDTF">2026-10-08T20:44:21.3630000Z</dcterms:modified>
</coreProperties>
</file>